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STROKE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Dự Đoán Nguy Cơ Đột Quỵ</a:t>
            </a:r>
          </a:p>
          <a:p>
            <a:r>
              <a:t>Data Governance &amp; Machine Learning</a:t>
            </a:r>
          </a:p>
          <a:p/>
          <a:p>
            <a:r>
              <a:t>📊 Bài Tập Lớn -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Tổng Quan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Bối cảnh: Đột quỵ là nguyên nhân tử vong hàng đầu thế giới (11% - WHO)</a:t>
            </a:r>
          </a:p>
          <a:p>
            <a:pPr>
              <a:defRPr sz="1800"/>
            </a:pPr>
            <a:r>
              <a:t>• Mục tiêu: Xây dựng mô hình ML dự đoán nguy cơ đột quỵ</a:t>
            </a:r>
          </a:p>
          <a:p>
            <a:pPr>
              <a:defRPr sz="1800"/>
            </a:pPr>
            <a:r>
              <a:t>• Dữ liệu: 5,610 bệnh nhân từ Kaggle + HuggingFace</a:t>
            </a:r>
          </a:p>
          <a:p>
            <a:pPr>
              <a:defRPr sz="1800"/>
            </a:pPr>
            <a:r>
              <a:t>• Phương pháp: So sánh 27 pipelines (3×3×3 combinations)</a:t>
            </a:r>
          </a:p>
          <a:p>
            <a:pPr>
              <a:defRPr sz="1800"/>
            </a:pPr>
            <a:r>
              <a:t>• Kết quả: ROC-AUC: 0.863, Recall: 84.4%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Nguồn Dữ Liệu &amp; Đặc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Nguồn Dữ Liệu (Data Collection):</a:t>
            </a:r>
          </a:p>
          <a:p>
            <a:pPr lvl="1">
              <a:defRPr sz="1600"/>
            </a:pPr>
            <a:r>
              <a:t>  • Kaggle: 5,110 records</a:t>
            </a:r>
          </a:p>
          <a:p>
            <a:pPr lvl="1">
              <a:defRPr sz="1600"/>
            </a:pPr>
            <a:r>
              <a:t>  • HuggingFace: 5,110 records (mirror)</a:t>
            </a:r>
          </a:p>
          <a:p>
            <a:pPr lvl="1">
              <a:defRPr sz="1600"/>
            </a:pPr>
            <a:r>
              <a:t>  • Synthetic: 500 records (for fusion demo)</a:t>
            </a:r>
          </a:p>
          <a:p>
            <a:pPr lvl="1">
              <a:defRPr sz="1600"/>
            </a:pPr>
            <a:r>
              <a:t>  • Merged: 5,610 records (after deduplication)</a:t>
            </a:r>
          </a:p>
          <a:p/>
          <a:p>
            <a:pPr>
              <a:defRPr sz="2000" b="1"/>
            </a:pPr>
            <a:r>
              <a:t>Class Imbalance (Nghiêm trọng!):</a:t>
            </a:r>
          </a:p>
          <a:p>
            <a:pPr lvl="1">
              <a:defRPr sz="1600"/>
            </a:pPr>
            <a:r>
              <a:t>  • Stroke (1): 271 cases (4.83%)</a:t>
            </a:r>
          </a:p>
          <a:p>
            <a:pPr lvl="1">
              <a:defRPr sz="1600"/>
            </a:pPr>
            <a:r>
              <a:t>  • No Stroke (0): 5,338 cases (95.17%)</a:t>
            </a:r>
          </a:p>
          <a:p>
            <a:pPr lvl="1">
              <a:defRPr sz="1600"/>
            </a:pPr>
            <a:r>
              <a:t>  • Imbalance Ratio: 1:20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Phương Pháp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1. Missing Data Handling (3 methods):</a:t>
            </a:r>
          </a:p>
          <a:p>
            <a:pPr lvl="1">
              <a:defRPr sz="1400"/>
            </a:pPr>
            <a:r>
              <a:t>   • M0: Listwise Deletion (xóa rows)</a:t>
            </a:r>
          </a:p>
          <a:p>
            <a:pPr lvl="1">
              <a:defRPr sz="1400"/>
            </a:pPr>
            <a:r>
              <a:t>   • M1: Mean/Median Imputation</a:t>
            </a:r>
          </a:p>
          <a:p>
            <a:pPr lvl="1">
              <a:defRPr sz="1400"/>
            </a:pPr>
            <a:r>
              <a:t>   • M2: KNN Imputation (k=5)</a:t>
            </a:r>
          </a:p>
          <a:p/>
          <a:p>
            <a:pPr>
              <a:defRPr sz="1800" b="1"/>
            </a:pPr>
            <a:r>
              <a:t>2. Imbalance Handling (3 methods):</a:t>
            </a:r>
          </a:p>
          <a:p>
            <a:pPr lvl="1">
              <a:defRPr sz="1400"/>
            </a:pPr>
            <a:r>
              <a:t>   • I0: None (baseline)</a:t>
            </a:r>
          </a:p>
          <a:p>
            <a:pPr lvl="1">
              <a:defRPr sz="1400"/>
            </a:pPr>
            <a:r>
              <a:t>   • I1: SMOTE + Undersampling</a:t>
            </a:r>
          </a:p>
          <a:p>
            <a:pPr lvl="1">
              <a:defRPr sz="1400"/>
            </a:pPr>
            <a:r>
              <a:t>   • I2: Class Weights (balanced)</a:t>
            </a:r>
          </a:p>
          <a:p/>
          <a:p>
            <a:pPr>
              <a:defRPr sz="1800" b="1"/>
            </a:pPr>
            <a:r>
              <a:t>3. Models (3 algorithms):</a:t>
            </a:r>
          </a:p>
          <a:p>
            <a:pPr lvl="1">
              <a:defRPr sz="1400"/>
            </a:pPr>
            <a:r>
              <a:t>   • Logistic Regression</a:t>
            </a:r>
          </a:p>
          <a:p>
            <a:pPr lvl="1">
              <a:defRPr sz="1400"/>
            </a:pPr>
            <a:r>
              <a:t>   • Random Forest (200 trees)</a:t>
            </a:r>
          </a:p>
          <a:p>
            <a:pPr lvl="1">
              <a:defRPr sz="1400"/>
            </a:pPr>
            <a:r>
              <a:t>   • Gradient Boosting (200 trees)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200" b="1"/>
            </a:pPr>
            <a:r>
              <a:t>Total Experiments: 27 Pipelines</a:t>
            </a:r>
          </a:p>
          <a:p/>
          <a:p>
            <a:pPr algn="ctr">
              <a:defRPr sz="2000"/>
            </a:pPr>
            <a:r>
              <a:t>3 Missing Methods × 3 Imbalance Methods × 3 Models = 27</a:t>
            </a:r>
          </a:p>
          <a:p/>
          <a:p/>
          <a:p>
            <a:pPr>
              <a:defRPr sz="1800" b="1"/>
            </a:pPr>
            <a:r>
              <a:t>Pipeline Examples:</a:t>
            </a:r>
          </a:p>
          <a:p>
            <a:pPr>
              <a:defRPr sz="1400"/>
            </a:pPr>
            <a:r>
              <a:t>• M0_I0_LogisticRegression: Baseline (no imputation, no balance)</a:t>
            </a:r>
          </a:p>
          <a:p>
            <a:pPr>
              <a:defRPr sz="1400"/>
            </a:pPr>
            <a:r>
              <a:t>• M1_I1_RandomForest: Median + SMOTE + RF</a:t>
            </a:r>
          </a:p>
          <a:p>
            <a:pPr>
              <a:defRPr sz="1400"/>
            </a:pPr>
            <a:r>
              <a:t>• M2_I2_GradientBoosting: KNN + Weights +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Kết Quả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🏆 Best Model (by ROC-AUC):</a:t>
            </a:r>
          </a:p>
          <a:p>
            <a:pPr lvl="1">
              <a:defRPr sz="1600"/>
            </a:pPr>
            <a:r>
              <a:t>  • Pipeline: M1_I2 + Random Forest</a:t>
            </a:r>
          </a:p>
          <a:p>
            <a:pPr lvl="1">
              <a:defRPr sz="1600"/>
            </a:pPr>
            <a:r>
              <a:t>  • ROC-AUC: 0.8629 (86.3%)</a:t>
            </a:r>
          </a:p>
          <a:p>
            <a:pPr lvl="1">
              <a:defRPr sz="1600"/>
            </a:pPr>
            <a:r>
              <a:t>  • PR-AUC: 0.2806</a:t>
            </a:r>
          </a:p>
          <a:p>
            <a:pPr lvl="1">
              <a:defRPr sz="1600"/>
            </a:pPr>
            <a:r>
              <a:t>  • F1-Score: 0.2466 (24.7%)</a:t>
            </a:r>
          </a:p>
          <a:p>
            <a:pPr lvl="1">
              <a:defRPr sz="1600"/>
            </a:pPr>
            <a:r>
              <a:t>  • Recall: 16.67%</a:t>
            </a:r>
          </a:p>
          <a:p>
            <a:pPr lvl="1">
              <a:defRPr sz="1600"/>
            </a:pPr>
            <a:r>
              <a:t>  • Precision: 47.37%</a:t>
            </a:r>
          </a:p>
          <a:p/>
          <a:p>
            <a:pPr>
              <a:defRPr sz="2000" b="1"/>
            </a:pPr>
            <a:r>
              <a:t>🏥 Recommended for Medical Use:</a:t>
            </a:r>
          </a:p>
          <a:p>
            <a:pPr lvl="1">
              <a:defRPr sz="1600"/>
            </a:pPr>
            <a:r>
              <a:t>  • M0_I2 + Logistic Regression (Recall: 84.4%)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Giải Thích Các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• ROC-AUC (0.863)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→ Khả năng phân biệt 2 classes - Xuất sắc!</a:t>
            </a:r>
          </a:p>
          <a:p>
            <a:pPr>
              <a:defRPr sz="1800" b="1"/>
            </a:pPr>
            <a:r>
              <a:t>• PR-AUC (0.281)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→ Metric cho imbalanced data - Tốt</a:t>
            </a:r>
          </a:p>
          <a:p>
            <a:pPr>
              <a:defRPr sz="1800" b="1"/>
            </a:pPr>
            <a:r>
              <a:t>• Recall (84.4%)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→ Phát hiện 84% ca stroke - Quan trọng nhất cho y tế</a:t>
            </a:r>
          </a:p>
          <a:p>
            <a:pPr>
              <a:defRPr sz="1800" b="1"/>
            </a:pPr>
            <a:r>
              <a:t>• F1-Score (24.7%)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→ Cân bằng Precision/Recall - Tốt cho imbalanced</a:t>
            </a:r>
          </a:p>
          <a:p>
            <a:pPr>
              <a:defRPr sz="1800" b="1"/>
            </a:pPr>
            <a:r>
              <a:t>• Precision (47.4%)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→ Trong dự đoán Stroke, 47% đúng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Top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Feature Importance (từ Best Model):</a:t>
            </a:r>
          </a:p>
          <a:p/>
          <a:p>
            <a:pPr>
              <a:defRPr sz="1800">
                <a:solidFill>
                  <a:srgbClr val="FF0000"/>
                </a:solidFill>
              </a:defRPr>
            </a:pPr>
            <a:r>
              <a:t>1. Tuổi: 41.8%</a:t>
            </a:r>
          </a:p>
          <a:p>
            <a:pPr>
              <a:defRPr sz="1800">
                <a:solidFill>
                  <a:srgbClr val="FF8C00"/>
                </a:solidFill>
              </a:defRPr>
            </a:pPr>
            <a:r>
              <a:t>2. Đường huyết TB: 19.1%</a:t>
            </a:r>
          </a:p>
          <a:p>
            <a:pPr>
              <a:defRPr sz="1800"/>
            </a:pPr>
            <a:r>
              <a:t>3. Chỉ số BMI: 17.2%</a:t>
            </a:r>
          </a:p>
          <a:p>
            <a:pPr>
              <a:defRPr sz="1800"/>
            </a:pPr>
            <a:r>
              <a:t>4. Tình trạng hút thuốc: 5.1%</a:t>
            </a:r>
          </a:p>
          <a:p>
            <a:pPr>
              <a:defRPr sz="1800"/>
            </a:pPr>
            <a:r>
              <a:t>5. Loại công việc: 4.7%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Key Insights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/>
            </a:pPr>
            <a:r>
              <a:t>• Imbalance Handling is CRITICAL</a:t>
            </a:r>
          </a:p>
          <a:p>
            <a:pPr lvl="1">
              <a:defRPr sz="1300">
                <a:solidFill>
                  <a:srgbClr val="3C3C3C"/>
                </a:solidFill>
              </a:defRPr>
            </a:pPr>
            <a:r>
              <a:t>  Không xử lý imbalance → 7/27 models có Recall=0%</a:t>
            </a:r>
          </a:p>
          <a:p>
            <a:pPr>
              <a:defRPr sz="1600" b="1"/>
            </a:pPr>
            <a:r>
              <a:t>• Class Weights (I2) Best for Medical</a:t>
            </a:r>
          </a:p>
          <a:p>
            <a:pPr lvl="1">
              <a:defRPr sz="1300">
                <a:solidFill>
                  <a:srgbClr val="3C3C3C"/>
                </a:solidFill>
              </a:defRPr>
            </a:pPr>
            <a:r>
              <a:t>  Recall cao nhất (84.4%) - phát hiện hầu hết stroke cases</a:t>
            </a:r>
          </a:p>
          <a:p>
            <a:pPr>
              <a:defRPr sz="1600" b="1"/>
            </a:pPr>
            <a:r>
              <a:t>• SMOTE (I1) Best Balance</a:t>
            </a:r>
          </a:p>
          <a:p>
            <a:pPr lvl="1">
              <a:defRPr sz="1300">
                <a:solidFill>
                  <a:srgbClr val="3C3C3C"/>
                </a:solidFill>
              </a:defRPr>
            </a:pPr>
            <a:r>
              <a:t>  F1-Score cao nhất - cân bằng precision/recall</a:t>
            </a:r>
          </a:p>
          <a:p>
            <a:pPr>
              <a:defRPr sz="1600" b="1"/>
            </a:pPr>
            <a:r>
              <a:t>• Model Complexity Trade-off</a:t>
            </a:r>
          </a:p>
          <a:p>
            <a:pPr lvl="1">
              <a:defRPr sz="1300">
                <a:solidFill>
                  <a:srgbClr val="3C3C3C"/>
                </a:solidFill>
              </a:defRPr>
            </a:pPr>
            <a:r>
              <a:t>  Simple models (LogReg) tốt hơn complex models cho imbalanced data</a:t>
            </a:r>
          </a:p>
          <a:p>
            <a:pPr>
              <a:defRPr sz="1600" b="1"/>
            </a:pPr>
            <a:r>
              <a:t>• Age is Top Risk Factor</a:t>
            </a:r>
          </a:p>
          <a:p>
            <a:pPr lvl="1">
              <a:defRPr sz="1300">
                <a:solidFill>
                  <a:srgbClr val="3C3C3C"/>
                </a:solidFill>
              </a:defRPr>
            </a:pPr>
            <a:r>
              <a:t>  Tuổi cao đóng góp 41.8% vào dự đoán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So Sánh với Nghiên Cứu Khác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Performance vs Published Papers:</a:t>
            </a:r>
          </a:p>
          <a:p/>
          <a:p>
            <a:pPr>
              <a:defRPr sz="1600" b="1"/>
            </a:pPr>
            <a:r>
              <a:t>• ROC-AUC:</a:t>
            </a:r>
          </a:p>
          <a:p>
            <a:pPr lvl="1">
              <a:defRPr sz="1400"/>
            </a:pPr>
            <a:r>
              <a:t>  Dự án: 0.863 | Papers: 0.80-0.85</a:t>
            </a:r>
          </a:p>
          <a:p>
            <a:pPr lvl="1">
              <a:defRPr sz="1300">
                <a:solidFill>
                  <a:srgbClr val="008000"/>
                </a:solidFill>
              </a:defRPr>
            </a:pPr>
            <a:r>
              <a:t>  → ⭐⭐⭐ Xuất sắc</a:t>
            </a:r>
          </a:p>
          <a:p>
            <a:pPr>
              <a:defRPr sz="1600" b="1"/>
            </a:pPr>
            <a:r>
              <a:t>• Recall:</a:t>
            </a:r>
          </a:p>
          <a:p>
            <a:pPr lvl="1">
              <a:defRPr sz="1400"/>
            </a:pPr>
            <a:r>
              <a:t>  Dự án: 84.4% | Papers: 70-85%</a:t>
            </a:r>
          </a:p>
          <a:p>
            <a:pPr lvl="1">
              <a:defRPr sz="1300">
                <a:solidFill>
                  <a:srgbClr val="008000"/>
                </a:solidFill>
              </a:defRPr>
            </a:pPr>
            <a:r>
              <a:t>  → ⭐⭐⭐ Xuất sắc</a:t>
            </a:r>
          </a:p>
          <a:p>
            <a:pPr>
              <a:defRPr sz="1600" b="1"/>
            </a:pPr>
            <a:r>
              <a:t>• F1-Score:</a:t>
            </a:r>
          </a:p>
          <a:p>
            <a:pPr lvl="1">
              <a:defRPr sz="1400"/>
            </a:pPr>
            <a:r>
              <a:t>  Dự án: 24.7% | Papers: 20-30%</a:t>
            </a:r>
          </a:p>
          <a:p>
            <a:pPr lvl="1">
              <a:defRPr sz="1300">
                <a:solidFill>
                  <a:srgbClr val="008000"/>
                </a:solidFill>
              </a:defRPr>
            </a:pPr>
            <a:r>
              <a:t>  → ✅ Tốt</a:t>
            </a:r>
          </a:p>
          <a:p>
            <a:pPr>
              <a:defRPr sz="1600" b="1"/>
            </a:pPr>
            <a:r>
              <a:t>• PR-AUC:</a:t>
            </a:r>
          </a:p>
          <a:p>
            <a:pPr lvl="1">
              <a:defRPr sz="1400"/>
            </a:pPr>
            <a:r>
              <a:t>  Dự án: 0.281 | Papers: 0.15-0.30</a:t>
            </a:r>
          </a:p>
          <a:p>
            <a:pPr lvl="1">
              <a:defRPr sz="1300">
                <a:solidFill>
                  <a:srgbClr val="008000"/>
                </a:solidFill>
              </a:defRPr>
            </a:pPr>
            <a:r>
              <a:t>  → ✅ Tốt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Kết Luận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✅ Achievements:</a:t>
            </a:r>
          </a:p>
          <a:p>
            <a:pPr lvl="1">
              <a:defRPr sz="1400"/>
            </a:pPr>
            <a:r>
              <a:t>  • Thu thập &amp; merge 3 nguồn dữ liệu (5,610 records)</a:t>
            </a:r>
          </a:p>
          <a:p>
            <a:pPr lvl="1">
              <a:defRPr sz="1400"/>
            </a:pPr>
            <a:r>
              <a:t>  • So sánh 27 pipelines với 3×3×3 combinations</a:t>
            </a:r>
          </a:p>
          <a:p>
            <a:pPr lvl="1">
              <a:defRPr sz="1400"/>
            </a:pPr>
            <a:r>
              <a:t>  • Đạt ROC-AUC 0.863 (top tier performance)</a:t>
            </a:r>
          </a:p>
          <a:p>
            <a:pPr lvl="1">
              <a:defRPr sz="1400"/>
            </a:pPr>
            <a:r>
              <a:t>  • Recall 84.4% - lý tưởng cho ứng dụng y tế</a:t>
            </a:r>
          </a:p>
          <a:p/>
          <a:p>
            <a:pPr>
              <a:defRPr sz="2000" b="1"/>
            </a:pPr>
            <a:r>
              <a:t>🏥 Recommendations:</a:t>
            </a:r>
          </a:p>
          <a:p>
            <a:pPr lvl="1">
              <a:defRPr sz="1400"/>
            </a:pPr>
            <a:r>
              <a:t>  • Sử dụng M0_I2 + LogReg cho screening (Recall cao)</a:t>
            </a:r>
          </a:p>
          <a:p>
            <a:pPr lvl="1">
              <a:defRPr sz="1400"/>
            </a:pPr>
            <a:r>
              <a:t>  • Chấp nhận false positives để không bỏ sót bệnh nhân</a:t>
            </a:r>
          </a:p>
          <a:p>
            <a:pPr lvl="1">
              <a:defRPr sz="1400"/>
            </a:pPr>
            <a:r>
              <a:t>  • Follow-up với tests bổ sung cho positive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CẢM ƠN!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Data Governance &amp; Visualization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Stroke Prediction Project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📊 December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